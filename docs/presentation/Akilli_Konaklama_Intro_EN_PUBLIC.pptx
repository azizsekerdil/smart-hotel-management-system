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44" y="685800"/>
            <a:ext cx="1097280" cy="10972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18744" y="193852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18744" y="193852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A9EE0"/>
                </a:solidFill>
                <a:latin typeface="Calibri"/>
              </a:rPr>
              <a:t>v0.1.0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8716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E6EDF3"/>
                </a:solidFill>
                <a:latin typeface="Calibri"/>
              </a:rPr>
              <a:t>SMART HOSPITALITY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47288"/>
            <a:ext cx="103601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4A9EE0"/>
                </a:solidFill>
                <a:latin typeface="Calibri"/>
              </a:rPr>
              <a:t>AI-assisted Windows &amp; macOS desktop PMS for hotels, boutique hotels, guest houses, aparthotels and resorts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78808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F6D365"/>
                </a:solidFill>
                <a:latin typeface="Calibri"/>
              </a:rPr>
              <a:t>Sell Right.  Measure Right.  Protect the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Windows 10/11 &amp; macOS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100% local AI option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Encrypted identity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14816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14816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Turkish / English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053328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8B98A9"/>
                </a:solidFill>
                <a:latin typeface="Calibri"/>
              </a:rPr>
              <a:t>Version 0.1.0 · August 2026 · MIT license · Legal compliance remains the operator's responsibility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🔢  </a:t>
            </a:r>
            <a:r>
              <a:rPr sz="3000" b="1">
                <a:solidFill>
                  <a:srgbClr val="E6EDF3"/>
                </a:solidFill>
                <a:latin typeface="Calibri"/>
              </a:rPr>
              <a:t>The Program in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2821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4A9EE0"/>
                </a:solidFill>
                <a:latin typeface="Calibri"/>
              </a:rPr>
              <a:t>not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Database tables · not measured ORM models · versioned with Alembic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002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72821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2DD4BF"/>
                </a:solidFill>
                <a:latin typeface="Calibri"/>
              </a:rPr>
              <a:t>not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46888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Collected tests — all run without network access; that rule is itself tested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2821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38BDF8"/>
                </a:solidFill>
                <a:latin typeface="Calibri"/>
              </a:rPr>
              <a:t>not measured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Branch coverage — taken from `pytest --cov=app --cov-branch`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6002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72821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6D365"/>
                </a:solidFill>
                <a:latin typeface="Calibri"/>
              </a:rPr>
              <a:t>not measured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46888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Permissions · not measured default roles · checked in two separate layers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1985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22C55E"/>
                </a:solidFill>
                <a:latin typeface="Calibri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Critical scenarios — overlap, no-show, quota, malformed 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329184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341985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A78BFA"/>
                </a:solidFill>
                <a:latin typeface="Calibri"/>
              </a:rPr>
              <a:t>not measured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16052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AI providers: LM Studio · OpenAI · NVIDIA · Anthropic · Mock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29184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41985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4A9EE0"/>
                </a:solidFill>
                <a:latin typeface="Calibri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6052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Application screens in this deck — all captured on fictional demo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329184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341985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87171"/>
                </a:solidFill>
                <a:latin typeface="Calibri"/>
              </a:rPr>
              <a:t>not measured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416052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High-severity bandit findings · medium: not measured · low: not measured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74920"/>
            <a:ext cx="11292840" cy="11887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521208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8B98A9"/>
                </a:solidFill>
                <a:latin typeface="Calibri"/>
              </a:rPr>
              <a:t>None of these numbers was typed in: `sunum/olcum.py` measures them from the source as the deck is built (1 September 2026). What cannot be measured prints as "not measured", never as a remembered figure.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🏨  </a:t>
            </a:r>
            <a:r>
              <a:rPr sz="3000" b="1">
                <a:solidFill>
                  <a:srgbClr val="E6EDF3"/>
                </a:solidFill>
                <a:latin typeface="Calibri"/>
              </a:rPr>
              <a:t>Who It Is For — and What It Is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program runs on a single property's own computer: it is not a cloud subscription, not a channel manager, not an accounting suite.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Target 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Hotels, boutique hotels, guest houses, aparthotels and resorts with 5–150 rooms. Runs on one machine or a small local network; an internet connection is not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What It Covers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complete front-office cycle from booking to departure: sales, stay, folio, payment, housekeeping, maintenance and management reports.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What It Is Not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Not a channel manager, not a POS, not accounting software. Turkish e-invoice and police-notification integrations are NOT DONE: the data model exists, the connection does not.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⚖️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Where Responsibility Sits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software makes data processing easier; compliance with data protection, e-invoicing and guest-notification obligations remains entirely with the operating business.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Unfinished modules are disabled by default and shown in the UI as a placeholder screen that states their status — docs/ROADMAP.md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🔄  </a:t>
            </a:r>
            <a:r>
              <a:rPr sz="3000" b="1">
                <a:solidFill>
                  <a:srgbClr val="E6EDF3"/>
                </a:solidFill>
                <a:latin typeface="Calibri"/>
              </a:rPr>
              <a:t>A Day in Four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day starts on the dashboard, runs through the front desk and the housekeeping and maintenance teams, and ends with night audit.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Occupancy, ADR, RevPAR and ALOS tiles; critical alerts (overdue departures, open faults, low stock) and a 14-day occupancy curve, all on one screen.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Reservations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Calendar, group bookings, waiting list, channel-tagged records. Night-by-night pricing and overlap prevention run at save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Front Desk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Check-in, room card, companions, folio, extra charges, payment and check-out. Early check-in and late check-out are charged in slots.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Housekeeping &amp; Maintenance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Daily cleaning tasks are generated and assigned; a fault record can take a room out of sale — a blocked room cannot be booked.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Shortcuts: Ctrl+1 Dashboard · Ctrl+2 Reservations · Ctrl+3 Front Desk · Ctrl+4 Rooms · Ctrl+5 Guests · Ctrl+R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🖥️  </a:t>
            </a:r>
            <a:r>
              <a:rPr sz="3000" b="1">
                <a:solidFill>
                  <a:srgbClr val="E6EDF3"/>
                </a:solidFill>
                <a:latin typeface="Calibri"/>
              </a:rPr>
              <a:t>On Screen: The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Occupancy, vacant rooms, daily revenue, ADR and RevPAR tiles; critical alerts and a 14-day occupancy forecast — the day starts on a single screen.</a:t>
            </a:r>
          </a:p>
        </p:txBody>
      </p:sp>
      <p:pic>
        <p:nvPicPr>
          <p:cNvPr id="4" name="Picture 3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This and the following screenshots are taken from the program itself; all of the data is synthetic demo content with no real personal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🛎️  </a:t>
            </a:r>
            <a:r>
              <a:rPr sz="3000" b="1">
                <a:solidFill>
                  <a:srgbClr val="E6EDF3"/>
                </a:solidFill>
                <a:latin typeface="Calibri"/>
              </a:rPr>
              <a:t>On Screen: The Front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Pending arrivals and departures, in-house guests and the uncollected folio balance on one screen; check-in starts from the list with a single button.</a:t>
            </a:r>
          </a:p>
        </p:txBody>
      </p:sp>
      <p:pic>
        <p:nvPicPr>
          <p:cNvPr id="4" name="Picture 3" descr="03_front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🧹  </a:t>
            </a:r>
            <a:r>
              <a:rPr sz="3000" b="1">
                <a:solidFill>
                  <a:srgbClr val="E6EDF3"/>
                </a:solidFill>
                <a:latin typeface="Calibri"/>
              </a:rPr>
              <a:t>On Screen: Housekeeping and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Daily cleaning tasks are generated with one click, assigned and closed with an inspection step; fault records are tracked with priority and room links.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40864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Housekeeping</a:t>
            </a:r>
          </a:p>
        </p:txBody>
      </p:sp>
      <p:pic>
        <p:nvPicPr>
          <p:cNvPr id="5" name="Picture 4" descr="06_housekee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5440680" cy="3060382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217920" y="2340864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Maintenance</a:t>
            </a:r>
          </a:p>
        </p:txBody>
      </p:sp>
      <p:pic>
        <p:nvPicPr>
          <p:cNvPr id="7" name="Picture 6" descr="07_mainte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743200"/>
            <a:ext cx="5440680" cy="3060382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🧮  </a:t>
            </a:r>
            <a:r>
              <a:rPr sz="3000" b="1">
                <a:solidFill>
                  <a:srgbClr val="E6EDF3"/>
                </a:solidFill>
                <a:latin typeface="Calibri"/>
              </a:rPr>
              <a:t>The Same Room Cannot Be Sold Twice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Overlap prevention is not a warning but a two-layer constraint: the application check and the database constraint enforce the same rule independently.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Two-Stage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First the application layer queries availability and produces a readable error; at write time the database constraint applies the same rule again. In a race, the second transaction is rejected.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Half-Open Interval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Dates are modelled as [arrival, departure): the departure day is not a night, so the room can be sold again the same day. Most overlap bugs are born exactly at this boundary.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Night-by-Night Pricing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Season rate, weekend uplift, extra person, discount and tax are computed for each night separately; no single average rate is multiplied by the stay length.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State Machine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Draft → confirmed → checked-in → checked-out; cancellation and no-show are separate paths. Invalid transitions are rejected and fee rules depend on the state.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99 domain tests cover this layer alone: availability 24, pricing 23, state machine 18, money and date value objects 34.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📅  </a:t>
            </a:r>
            <a:r>
              <a:rPr sz="3000" b="1">
                <a:solidFill>
                  <a:srgbClr val="E6EDF3"/>
                </a:solidFill>
                <a:latin typeface="Calibri"/>
              </a:rPr>
              <a:t>On Screen: Reservations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Search with status and date filters; confirmation number, nights, amount and balance in one list. Cancelled and optional bookings are colour-coded.</a:t>
            </a:r>
          </a:p>
        </p:txBody>
      </p:sp>
      <p:pic>
        <p:nvPicPr>
          <p:cNvPr id="4" name="Picture 3" descr="02_reserv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🛏️  </a:t>
            </a:r>
            <a:r>
              <a:rPr sz="3000" b="1">
                <a:solidFill>
                  <a:srgbClr val="E6EDF3"/>
                </a:solidFill>
                <a:latin typeface="Calibri"/>
              </a:rPr>
              <a:t>On Screen: The Room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 building- and floor-based room map: occupancy and cleanliness are colour-coded; the selected room's details and actions sit in the right-hand panel.</a:t>
            </a:r>
          </a:p>
        </p:txBody>
      </p:sp>
      <p:pic>
        <p:nvPicPr>
          <p:cNvPr id="4" name="Picture 3" descr="04_ro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🧾  </a:t>
            </a:r>
            <a:r>
              <a:rPr sz="3000" b="1">
                <a:solidFill>
                  <a:srgbClr val="E6EDF3"/>
                </a:solidFill>
                <a:latin typeface="Calibri"/>
              </a:rPr>
              <a:t>Folio — Never Deleted, Only Voided with a Reason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In financial records, correcting is not deleting. The program never removes a charge line; it voids it with a reason and the audit trail survives.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✍️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The Trail Survives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 mistaken charge line is voided and its reason recorded. The night audit total and the history therefore stay explainable at any later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Payments and Refunds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Cash, card and transfer payments; refunds, deposits and damage records. The balance is derived from the folio; an inconsistent amount is rejected.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Early In / Late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Charged in slots: a 4-hour late check-out is two slots and equals 50% of the nightly rate. The rule is pinned down by a test.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Night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Arrivals, departures, in-house guests and cash movements are collected in the night audit report and exported as PDF, Excel or CSV.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There is no separate Finance screen yet: payments and folio work happen on the Front Desk, financial summaries under Reports.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🔐  </a:t>
            </a:r>
            <a:r>
              <a:rPr sz="3000" b="1">
                <a:solidFill>
                  <a:srgbClr val="E6EDF3"/>
                </a:solidFill>
                <a:latin typeface="Calibri"/>
              </a:rPr>
              <a:t>Identity Data Stays Encrypted — and Searchable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You cannot search an encrypted column. The program resolves that dilemma with a blind index: the data stays encrypted, the search runs over a keyed digest.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Field-Level Encryption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National ID and passport numbers are written to the database encrypted. Verified with a raw SQL query: the column shows no readable number.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Blind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Search runs on an HMAC-SHA256 digest of the number: exact match works, the value is never exposed. Partial search is deliberately unsupported.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Unmasking Is a Separate 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Seeing the unmasked number is a separate permission; not every user who can view the record holds it, and each unmasking is written to the audit log.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Guest CRM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Profile, stay history, preferences, VIP and blacklist, consent records. The summary currently counts only the primary guest; companion nights are excluded.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API keys, e-mail addresses, phone, ID and card numbers are masked automatically in logs; the masking is protected by its own test.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👥  </a:t>
            </a:r>
            <a:r>
              <a:rPr sz="3000" b="1">
                <a:solidFill>
                  <a:srgbClr val="E6EDF3"/>
                </a:solidFill>
                <a:latin typeface="Calibri"/>
              </a:rPr>
              <a:t>On Screen: Guest Profile and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ID number is stored encrypted and displayed masked; the 'Show' button writes every reveal to the audit log with the user name and a timestamp.</a:t>
            </a:r>
          </a:p>
        </p:txBody>
      </p:sp>
      <p:pic>
        <p:nvPicPr>
          <p:cNvPr id="4" name="Picture 3" descr="05_g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📈  </a:t>
            </a:r>
            <a:r>
              <a:rPr sz="3000" b="1">
                <a:solidFill>
                  <a:srgbClr val="E6EDF3"/>
                </a:solidFill>
                <a:latin typeface="Calibri"/>
              </a:rPr>
              <a:t>Measurement — Hotel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Occupancy, ADR, RevPAR and ALOS come from one query layer: the number on screen and the number in the report are produced by the same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KPIs and 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Occupancy, ADR, RevPAR, ALOS, cancellation and no-show rates. Critical alerts sit at the top: overdue departures, open faults, low stock.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14-Day Occupancy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next two weeks are drawn from confirmed reservations. This is not a demand-forecasting model but a projection of bookings already on the books.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Channel and Room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Revenue is split by channel (direct, agency, online) and by room type; what each channel actually brings in is visible in a single table.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PDF · Excel · 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Every report exports in three formats. CSV is written with a UTF-8 BOM so that Excel opens accented characters correctly.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106 reporting tests also cover export formats and the empty-data case: with no data the report does not crash, it renders empty.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📈  </a:t>
            </a:r>
            <a:r>
              <a:rPr sz="3000" b="1">
                <a:solidFill>
                  <a:srgbClr val="E6EDF3"/>
                </a:solidFill>
                <a:latin typeface="Calibri"/>
              </a:rPr>
              <a:t>On Screen: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Occupancy, channel and room-type revenue, night audit, housekeeping and a KPI summary; every report can be exported to PDF, Excel and CSV.</a:t>
            </a:r>
          </a:p>
        </p:txBody>
      </p:sp>
      <p:pic>
        <p:nvPicPr>
          <p:cNvPr id="4" name="Picture 3" descr="10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🤖  </a:t>
            </a:r>
            <a:r>
              <a:rPr sz="3000" b="1">
                <a:solidFill>
                  <a:srgbClr val="E6EDF3"/>
                </a:solidFill>
                <a:latin typeface="Calibri"/>
              </a:rPr>
              <a:t>The AI Advises — It Never Writes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AI layer is the security boundary between the database and the model: no personal data leaves, and the model never changes a record on its own.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Prompt Screening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E-mail addresses, phone numbers and long digit strings are masked before the call; if any personal data remains after masking, the request is never sent.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Local 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With LM Studio the model runs on your own machine: no cloud, no API bill, no data leaving the building. Cloud providers are optional.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Advice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Rate suggestions, guest-review sentiment analysis and message drafts are produced. None is applied automatically; the decision stays with the user.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Badge and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Every output is marked with an "AI generated" badge; token count, duration and estimated cost are shown — free on a local model.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If the primary provider fails, fallback happens only on TRANSIENT errors. An invalid API key is permanent: it is reported, not hidden.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🤖  </a:t>
            </a:r>
            <a:r>
              <a:rPr sz="3000" b="1">
                <a:solidFill>
                  <a:srgbClr val="E6EDF3"/>
                </a:solidFill>
                <a:latin typeface="Calibri"/>
              </a:rPr>
              <a:t>On Screen: The AI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Ready-made tasks and free-form questions; provider and model are chosen on the same screen. Every answer carries an 'AI-generated' badge.</a:t>
            </a:r>
          </a:p>
        </p:txBody>
      </p:sp>
      <p:pic>
        <p:nvPicPr>
          <p:cNvPr id="4" name="Picture 3" descr="11_ai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🛠  </a:t>
            </a:r>
            <a:r>
              <a:rPr sz="3000" b="1">
                <a:solidFill>
                  <a:srgbClr val="E6EDF3"/>
                </a:solidFill>
                <a:latin typeface="Calibri"/>
              </a:rPr>
              <a:t>AI Development Centre — A Restricted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AI can be given coding tasks; what it may do is bounded by a command policy, a sandbox and a quality chain.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Command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Two layers: (1) an allow-list decides which command may run, (2) a target check decides which file it may touch. `.env`, key files and the guest database are closed to every reader, whichever one is used.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Sandbox and Diff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Writes happen only under the sandbox root; every change is shown as a diff first, nothing is written without approval, and lost-update protection is in place.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Git Guard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task runs on its own branch, a checkpoint is taken before it starts, and failure rolls back automatically. Merging to main needs separate approval.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Quality Chain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Format → lint → types → tests → security. No change is committed until the tests pass, and the user cannot relax that rule.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not measured tests cover this module. The layer that actually executes the command has low coverage; that gap is stated openly in the test report, with its measurement.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🛡  </a:t>
            </a:r>
            <a:r>
              <a:rPr sz="3000" b="1">
                <a:solidFill>
                  <a:srgbClr val="E6EDF3"/>
                </a:solidFill>
                <a:latin typeface="Calibri"/>
              </a:rPr>
              <a:t>Security — Measured, Not Assumed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security review is not a list of claims: each item rests on a test or on the output of a tool that was actually run.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Passwords are hashed with Argon2id; brute-force lockout, session timeout and a uniform error message that prevents user enumeration are in 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Authorization Twice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Permissions are checked both in the UI (menu, buttons) and in the service layer. Hiding a screen is not enough; the unauthorized service call is rejected too.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Secret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API keys live in Windows Credential Manager; they are never written to the database, the source or error messages. The repository was scanned for secrets.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Audit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Critical operations are written to an append-only audit log: who did what, when, and to which record.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bandit: not measured high, not measured medium and not measured low-severity findings — each low finding carries a written rationale. The numbers are measured as the deck is built.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🔍  </a:t>
            </a:r>
            <a:r>
              <a:rPr sz="3000" b="1">
                <a:solidFill>
                  <a:srgbClr val="E6EDF3"/>
                </a:solidFill>
                <a:latin typeface="Calibri"/>
              </a:rPr>
              <a:t>The Reviews Found Real Holes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value of a security review is in what it finds. Everything below was fixed, each has a regression test, and the fixes are described in docs/SECURITY_REVIEW.md section 8.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Missing Permission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Taking a room out of sale skipped the permission check: a user without maintenance rights could block a room. Closed; guarded by `tests/application/test_operations_services.py`.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No Ownership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AI chat history did not verify ownership; one user could read another's conversation. Closed; guarded by `tests/application/test_ai_service.py`.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Policy Bypasses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Bypasses were found in the command policy and closed. The last one came out of an independent pre-release review: an allow-listed reader (`head`, `findstr`) could read `.env` with no approval. The decision now looks at the file touched, not at the command's name.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Financial Inconsistency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Arithmetic errors in folio and payment handling were corrected, and a key error being swallowed during provider fallback was fixed. Money never travels as `float`, only as `Decimal` — and that is tested.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No commit hashes are cited on purpose: the evidence for a fix is the test that guards it. The same document lists what was not fixed — the number generators are not concurrency-safe.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🧪  </a:t>
            </a:r>
            <a:r>
              <a:rPr sz="3000" b="1">
                <a:solidFill>
                  <a:srgbClr val="E6EDF3"/>
                </a:solidFill>
                <a:latin typeface="Calibri"/>
              </a:rPr>
              <a:t>The Numbers Were Run, Not Remembered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not measured tests pass and none of them touches the network — and that fact is itself protected by a test. The figure was measured while this deck was generated.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Layer by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not measured.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13 Critical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Overlapping booking, cancellation, no-show, early arrival, blocked room, wrong payment, unauthorized access, dead model, quota, invalid key, malformed JSON, empty report — all covered.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Gaps Written 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startup path (login screen, main window) and the CLI stay uncovered; backup has low coverage. None of this is hidden — it is listed with its measurements and explained in docs/TEST_REPORT.md.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CI on Every 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GitHub Actions (.github/workflows/ci.yml): format, lint, types, tests, security scanning, migration consistency and a "did a sensitive file enter the repo" gate. `ruff check app tests` currently reports not measured findings.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The report is a snapshot: 1 September 2026, version 0.1.0, Windows 11, Python 3.11. The numbers are measured at generation time and change when the code does.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🏗  </a:t>
            </a:r>
            <a:r>
              <a:rPr sz="3000" b="1">
                <a:solidFill>
                  <a:srgbClr val="E6EDF3"/>
                </a:solidFill>
                <a:latin typeface="Calibri"/>
              </a:rPr>
              <a:t>Architecture — Dependencies Flow One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ui → application → domain ← infrastructure. The business rules know neither the database nor the UI, which is why the 99 domain tests run in seconds.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Framework-Free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domain layer imports neither the ORM nor the UI toolkit. The rule is not only documented but enforced by an import 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Timezone-Aware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 custom column type stores every timestamp in UTC. Offset and daylight-saving bugs are solved in one place instead of scattered through the data layer.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Migratable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60 tables are versioned with Alembic and CI verifies schema/migration consistency on every change. Enumerations are stored as text, not as integers.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Page Registry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Adding a screen does not touch the main window: one line is added to the registry. Unfinished screens are declared in the same place.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SQLite by default, PostgreSQL supported. Case-insensitive Turkish search is limited on SQLite; dotted/dotless "I" needs PostgreSQL.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⚙️  </a:t>
            </a:r>
            <a:r>
              <a:rPr sz="3000" b="1">
                <a:solidFill>
                  <a:srgbClr val="E6EDF3"/>
                </a:solidFill>
                <a:latin typeface="Calibri"/>
              </a:rPr>
              <a:t>Setup, Backup and 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One command to install, one to back up, one to package. The database and logs live next to the application, so the installation stays portable.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One-Command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setup script validates the Python version, creates the virtual environment, writes .env with a random session key, applies migrations and creates the admin account.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Consistent Backup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SQLite backup uses VACUUM INTO; copying the file in WAL mode produces an inconsistent backup. The current database is kept aside before any restore.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Platforms and Download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Windows 10/11 (x64) &amp; macOS (Apple Silicon) — Download: GitHub Releases (v0.1.0). The macOS package is not notarized; first launch: right-click → Open.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Maintenance Commands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bootstrap · seed-demo · backup · restore · check-ai · doctor. check-ai tests the provider connection, doctor the health of the installation.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A demo installation ships five role accounts (manager, front desk, housekeeping, maintenance, accounting). In a real deployment demo data and accounts must be removed.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📋  </a:t>
            </a:r>
            <a:r>
              <a:rPr sz="3000" b="1">
                <a:solidFill>
                  <a:srgbClr val="E6EDF3"/>
                </a:solidFill>
                <a:latin typeface="Calibri"/>
              </a:rPr>
              <a:t>What Is Not Done — Stated Just as Clearly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If a feature is on the roadmap, it means it should not be used in production today. The program does not hide its gaps from the user.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e-Invoice and Notification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NOT DONE. The invoice table has the fields and the settings file the keys; the authority integration, XML generation and notification flow do not exist.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Finance · Stock · Staff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Business logic and reports exist, dedicated screens do not. Opening one shows what is planned and how to do the same job today.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Number Generator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Reservation and folio numbers are produced with max()+1; under concurrent use the second write is rejected and must be retried. The fix lands in v0.2.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☁️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Cloud Providers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NVIDIA and Anthropic adapters are written but never exercised against the real API — that needs a key. LM Studio was verified with a real request.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Document question-answering (RAG) and visual document analysis are also unfinished: the data model exists, the workflow is not wired.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🗺  </a:t>
            </a:r>
            <a:r>
              <a:rPr sz="3000" b="1">
                <a:solidFill>
                  <a:srgbClr val="E6EDF3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order is deliberate: first the screens that complete daily operations, then depth in AI, and regulatory integrations last.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v0.2 —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Finance, stock and room-type/rate-plan screens; staff and shift management; the concurrency fix for number generation; a group booking interface.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v0.3 — Artificial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Completing the document indexing flow, visual document analysis (with a data-protection assessment), demand forecasting and dynamic rate suggestions.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v0.4 — Integrations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e-invoice integrator connection, guest notification, a channel manager draft and the e-mail/SMS notification layer.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v1.0 — Production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PostgreSQL production setup, multi-property testing, an independent security audit, performance testing with 10,000+ reservations and user acceptance tests.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Most open to contribution: regulatory integrations, workflow feedback from real hotels, and the English interface translation.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44" y="68580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194560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E6EDF3"/>
                </a:solidFill>
                <a:latin typeface="Calibri"/>
              </a:rPr>
              <a:t>RUN THE HOUSE KNOWING WHAT YOU SOLD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103601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4A9EE0"/>
                </a:solidFill>
                <a:latin typeface="Calibri"/>
              </a:rPr>
              <a:t>not measured tables · not measured tests · not measured coverage · encrypted identity data · a local AI 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8620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F6D365"/>
                </a:solidFill>
                <a:latin typeface="Calibri"/>
              </a:rPr>
              <a:t>A program that writes down its gaps too.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User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7872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Test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1344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Security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14816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14816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53328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8B98A9"/>
                </a:solidFill>
                <a:latin typeface="Calibri"/>
              </a:rPr>
              <a:t>github.com/Azizsekerdil/smart-hotel-management-system · MIT license · Version 0.1.0 · 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